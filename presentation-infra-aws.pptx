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58E5912-E02B-8B54-9F9C-F9292D8F247C}">
          <p14:sldIdLst>
            <p14:sldId id="256"/>
            <p14:sldId id="257"/>
          </p14:sldIdLst>
        </p14:section>
        <p14:section name="Architecture" id="{8BF25D6C-F743-EB08-B937-28760F61EB20}">
          <p14:sldIdLst>
            <p14:sldId id="258"/>
            <p14:sldId id="259"/>
            <p14:sldId id="260"/>
          </p14:sldIdLst>
        </p14:section>
        <p14:section name="Réalisation" id="{D8FC290F-5D60-975C-12DC-D6191C3FF1FF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onclusion" id="{F555537C-0C9A-68A6-3153-DD3F0E2D91C2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fr-FR" sz="1300" b="0" i="0" u="none" strike="noStrike" kern="1200" baseline="0">
                <a:solidFill>
                  <a:srgbClr val="232F3E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32F3E"/>
                </a:solidFill>
                <a:latin typeface="+mn-lt"/>
              </a:rPr>
              <a:t>Accès sortant ($/mois)</a:t>
            </a:r>
            <a:endParaRPr sz="1300" b="0" i="0" u="none" strike="noStrike">
              <a:solidFill>
                <a:srgbClr val="232F3E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$/mois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200" b="0" i="0" u="none" strike="noStrike" kern="1200" baseline="0">
                    <a:solidFill>
                      <a:srgbClr val="161E2D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 c:formatCode="s\t\a\nd\a\rd">
                  <c:v>NAT instance</c:v>
                </c:pt>
                <c:pt idx="1" c:formatCode="s\t\a\nd\a\rd">
                  <c:v>NAT Gateway</c:v>
                </c:pt>
              </c:strCache>
            </c:strRef>
          </c:cat>
          <c:val>
            <c:numRef>
              <c:f>Sheet1!$B$2:$B$3</c:f>
              <c:numCache>
                <c:formatCode>s\t\a\nd\a\rd</c:formatCode>
                <c:ptCount val="2"/>
                <c:pt idx="0">
                  <c:v>8</c:v>
                </c:pt>
                <c:pt idx="1">
                  <c:v>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&quot;é&quot;\n&quot;é&quot;\r\a\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fr-FR" sz="1200" b="0" i="0" u="none" strike="noStrike" kern="1200" baseline="0">
                <a:solidFill>
                  <a:srgbClr val="161E2D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l"/>
        <c:numFmt formatCode="g&quot;é&quot;\n&quot;é&quot;\r\a\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fr-FR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79a244b-2719-46a9-a1db-d93980818f7c}"/>
      </c:ext>
    </c:extLst>
  </c:chart>
  <c:spPr>
    <a:noFill/>
    <a:ln>
      <a:noFill/>
    </a:ln>
    <a:effectLst/>
  </c:spPr>
  <c:txPr>
    <a:bodyPr/>
    <a:lstStyle/>
    <a:p>
      <a:pPr>
        <a:defRPr lang="fr-FR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– Majdeddine ouvre. Présentation du binôme et du plan : L1 (sujet), L2 (architecture et coût), L3 (réseau, sécurité, NAT, démo), puis la suite du projet. Durée totale :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– 3:00 – Majdeddine. Sujet, application retenue et sa source (à préciser à l’oral), composants, objectifs chiffrés, lien Git. Insister sur : tout est décrit en Terraform, rien n’est créé à la main dans la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 – 6:00 – Majdeddine. Présenter l’architecture cible : un VPC, deux zones de disponibilité, trois tiers (public, application, données). ALB public devant le tier web, ALB interne devant le tier applicatif, RDS dans les sous-réseaux données. Chaque tier a son groupe de sécurité (webserver-sg, appserver-sg, database-sg). La NAT instance ajoutée dans le sous-réseau public donne l’accès sortant au tier applicatif (elle ne figure pas sur le schéma d’origine : l’ajouter au schéma final).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Suite du créneau de Majdeddine. Justifier chaque choix selon les cinq axes. Une phrase par axe, avec un exemple concret du schéma.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6:00 – 8:00 – Oussema. Estimation par ressource, puis le choix de la NAT instance : environ 8 $ par mois contre environ 33 $ pour une NAT Gateway. Comme tout est détruit en fin de séance, le coût réel d’une séance est de quelques centimes. Les montants sont indicatifs : les remplacer par ceux du calculateur AWS avant la présentation, et ajuster le nombre d’instances si le dimensionnement final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8:00 – 10:00 – Majdeddine. Un VPC en 10.0.0.0/16, six sous-réseaux répartis sur deux zones, trois tables de routage : public (vers l’IGW), application (vers la NAT, ajoutée par le module nat) et données (volontairement sans route Internet). ATTENTION : le code actuel découpe en /24 (cidrsubnet avec 8 bits) ; pour correspondre à ce schéma en /20, il faut passer à cidrsubnet(var.vpc_cidr, 4, n) avec n = 0, 1 (public), 8, 9 (application), 10, 11 (données). Vérifier avant la présentation que le code et la diapositive disent la même chose.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Suite du créneau de Majdeddine. La chaîne Internet, ALB, application, base de données : chaque tier n’accepte que le tier juste au-dessus. Dans le code, les groupes s’appellent alb, app, db et nat ; sur le schéma, webserver-sg, appserver-sg et database-sg : harmoniser les noms avant la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10:00 – 12:00 – Oussema. Les instances applicatives sont dans des sous-réseaux privés : sans NAT elles ne peuvent pas installer nginx. La route par défaut de rt-app pointe vers l’interface réseau de la NAT instance (module nat). La NAT active le transfert IP, fait du MASQUERADE avec iptables et a le contrôle source/destination désactivé. Justification : coût. Limites : point de défaillance unique, débit limité, patching manuel. Piste d’amélioration : une NAT par zone ou une NAT Gateway en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12:00 – 14:00 – Oussema. Démo : apply lancé au début de la présentation, puis les sorties Terraform, puis la page de l’instance (l’IP sortante affichée prouve que le trafic passe bien par la NAT). À adapter : la façon d’ouvrir la page (instances privées) selon votre procédure, par exemple via l’ALB une fois l’étape L4 en place. Plan B : la vidéo de démo enregistrée.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suite du projet. Les modules actuels couvrent L1 à L3. L’architecture cible du schéma (ALB, Auto Scaling, RDS) correspond aux livrables L4 et L5, répartis comme dans le document de répartition du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14:00 – 15:00 – Oussema. Destruction en direct avec scripts/destroy.sh. Montrer la vérification finale et le journal. Rappeler les règles du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14:30 – 15:00 – Conclusion à deux. Reprendre les trois idées : isolée, disponible, reproductible. Ouvrir aux questions. Penser à répartir les réponses : chacun doit pouvoir expliquer toute l’infrastructure.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017520"/>
            <a:ext cx="768096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Projet infra AWS · L1 à L3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Infrastructure AWS 3 tiers à haute disponibilité</a:t>
            </a: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01752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Terraform · 2 zones · ALB · Auto Scaling · RDS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Majdeddine MOHAMED · Oussema RHIM</a:t>
            </a:r>
            <a:endParaRPr lang="en-US" sz="1800" dirty="0"/>
          </a:p>
        </p:txBody>
      </p:sp>
      <p:sp>
        <p:nvSpPr>
          <p:cNvPr id="4" name="pastille titre"/>
          <p:cNvSpPr/>
          <p:nvPr/>
        </p:nvSpPr>
        <p:spPr>
          <a:xfrm>
            <a:off x="731520" y="64008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</p:sp>
      <p:sp>
        <p:nvSpPr>
          <p:cNvPr id="5" name="Text 3"/>
          <p:cNvSpPr txBox="1"/>
          <p:nvPr/>
        </p:nvSpPr>
        <p:spPr>
          <a:xfrm>
            <a:off x="731520" y="6400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Projet infra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L1 · Sujet et objectifs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2062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Héberger une application web sur une infrastructure AWS 3 tiers, entièrement décrite en Terraform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Page nginx qui affiche l’ID de l’instance, sa zone et son IP sortante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Composants : VPC, ALB, Auto Scaling, EC2, RDS, NAT instance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Dépôt : github.com/MM95w/aws-3tier-infra</a:t>
            </a:r>
            <a:endParaRPr lang="en-US" sz="1400" dirty="0"/>
          </a:p>
        </p:txBody>
      </p:sp>
      <p:sp>
        <p:nvSpPr>
          <p:cNvPr id="5" name="stat zones de disponibilité"/>
          <p:cNvSpPr/>
          <p:nvPr/>
        </p:nvSpPr>
        <p:spPr>
          <a:xfrm>
            <a:off x="5029200" y="114300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029200" y="132588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205740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zones de disponibilité</a:t>
            </a:r>
            <a:endParaRPr lang="en-US" sz="1400" dirty="0"/>
          </a:p>
        </p:txBody>
      </p:sp>
      <p:sp>
        <p:nvSpPr>
          <p:cNvPr id="8" name="stat tiers isolés"/>
          <p:cNvSpPr/>
          <p:nvPr/>
        </p:nvSpPr>
        <p:spPr>
          <a:xfrm>
            <a:off x="6903720" y="114300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03720" y="132588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05740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tiers isolés</a:t>
            </a:r>
            <a:endParaRPr lang="en-US" sz="1400" dirty="0"/>
          </a:p>
        </p:txBody>
      </p:sp>
      <p:sp>
        <p:nvSpPr>
          <p:cNvPr id="11" name="stat modules Terraform"/>
          <p:cNvSpPr/>
          <p:nvPr/>
        </p:nvSpPr>
        <p:spPr>
          <a:xfrm>
            <a:off x="5029200" y="283464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29200" y="301752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37490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modules Terraform</a:t>
            </a:r>
            <a:endParaRPr lang="en-US" sz="1400" dirty="0"/>
          </a:p>
        </p:txBody>
      </p:sp>
      <p:sp>
        <p:nvSpPr>
          <p:cNvPr id="14" name="stat clic dans la console"/>
          <p:cNvSpPr/>
          <p:nvPr/>
        </p:nvSpPr>
        <p:spPr>
          <a:xfrm>
            <a:off x="6903720" y="283464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903720" y="301752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7490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clic dans la console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L2 · Architecture cible</a:t>
            </a:r>
            <a:endParaRPr lang="en-US" sz="3000" dirty="0"/>
          </a:p>
        </p:txBody>
      </p:sp>
      <p:sp>
        <p:nvSpPr>
          <p:cNvPr id="3" name="VPC"/>
          <p:cNvSpPr/>
          <p:nvPr/>
        </p:nvSpPr>
        <p:spPr>
          <a:xfrm>
            <a:off x="457200" y="960120"/>
            <a:ext cx="8229600" cy="3749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875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VPC</a:t>
            </a:r>
            <a:endParaRPr lang="en-US" sz="1000" dirty="0"/>
          </a:p>
        </p:txBody>
      </p:sp>
      <p:sp>
        <p:nvSpPr>
          <p:cNvPr id="5" name="Internet"/>
          <p:cNvSpPr/>
          <p:nvPr/>
        </p:nvSpPr>
        <p:spPr>
          <a:xfrm>
            <a:off x="3749040" y="1005840"/>
            <a:ext cx="1645920" cy="256032"/>
          </a:xfrm>
          <a:prstGeom prst="roundRect">
            <a:avLst>
              <a:gd name="adj" fmla="val 28571"/>
            </a:avLst>
          </a:prstGeom>
          <a:solidFill>
            <a:schemeClr val="tx2"/>
          </a:solidFill>
        </p:spPr>
      </p:sp>
      <p:sp>
        <p:nvSpPr>
          <p:cNvPr id="6" name="Text 4"/>
          <p:cNvSpPr txBox="1"/>
          <p:nvPr/>
        </p:nvSpPr>
        <p:spPr>
          <a:xfrm>
            <a:off x="3749040" y="10058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Internet · IGW</a:t>
            </a:r>
            <a:endParaRPr lang="en-US" sz="1100" dirty="0"/>
          </a:p>
        </p:txBody>
      </p:sp>
      <p:sp>
        <p:nvSpPr>
          <p:cNvPr id="7" name="fleche"/>
          <p:cNvSpPr/>
          <p:nvPr/>
        </p:nvSpPr>
        <p:spPr>
          <a:xfrm>
            <a:off x="4572000" y="1261872"/>
            <a:ext cx="0" cy="914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ALB public"/>
          <p:cNvSpPr/>
          <p:nvPr/>
        </p:nvSpPr>
        <p:spPr>
          <a:xfrm>
            <a:off x="1828800" y="1371600"/>
            <a:ext cx="548640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</p:spPr>
      </p:sp>
      <p:sp>
        <p:nvSpPr>
          <p:cNvPr id="9" name="Text 7"/>
          <p:cNvSpPr txBox="1"/>
          <p:nvPr/>
        </p:nvSpPr>
        <p:spPr>
          <a:xfrm>
            <a:off x="182880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ALB public · HTTP 80</a:t>
            </a:r>
            <a:endParaRPr lang="en-US" sz="1200" dirty="0"/>
          </a:p>
        </p:txBody>
      </p:sp>
      <p:sp>
        <p:nvSpPr>
          <p:cNvPr id="10" name="ALB interne"/>
          <p:cNvSpPr/>
          <p:nvPr/>
        </p:nvSpPr>
        <p:spPr>
          <a:xfrm>
            <a:off x="1828800" y="2724912"/>
            <a:ext cx="548640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</p:spPr>
      </p:sp>
      <p:sp>
        <p:nvSpPr>
          <p:cNvPr id="11" name="Text 9"/>
          <p:cNvSpPr txBox="1"/>
          <p:nvPr/>
        </p:nvSpPr>
        <p:spPr>
          <a:xfrm>
            <a:off x="1828800" y="27249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ALB interne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1755648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Public</a:t>
            </a:r>
            <a:endParaRPr lang="en-US" sz="1200" dirty="0"/>
          </a:p>
        </p:txBody>
      </p:sp>
      <p:sp>
        <p:nvSpPr>
          <p:cNvPr id="13" name="Public a"/>
          <p:cNvSpPr/>
          <p:nvPr/>
        </p:nvSpPr>
        <p:spPr>
          <a:xfrm>
            <a:off x="1783080" y="1755648"/>
            <a:ext cx="3108960" cy="868680"/>
          </a:xfrm>
          <a:prstGeom prst="roundRect">
            <a:avLst>
              <a:gd name="adj" fmla="val 8421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74520" y="1828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Web (Auto Scaling) · NAT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35000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webserver-sg</a:t>
            </a:r>
            <a:endParaRPr lang="en-US" sz="1000" dirty="0"/>
          </a:p>
        </p:txBody>
      </p:sp>
      <p:sp>
        <p:nvSpPr>
          <p:cNvPr id="16" name="Public b"/>
          <p:cNvSpPr/>
          <p:nvPr/>
        </p:nvSpPr>
        <p:spPr>
          <a:xfrm>
            <a:off x="5120640" y="1755648"/>
            <a:ext cx="3108960" cy="868680"/>
          </a:xfrm>
          <a:prstGeom prst="roundRect">
            <a:avLst>
              <a:gd name="adj" fmla="val 8421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1828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Web (Auto Scaling)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35000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webserver-sg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1089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20" name="Application a"/>
          <p:cNvSpPr/>
          <p:nvPr/>
        </p:nvSpPr>
        <p:spPr>
          <a:xfrm>
            <a:off x="1783080" y="310896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74520" y="31821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App (Auto Scaling)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56616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appserver-sg</a:t>
            </a:r>
            <a:endParaRPr lang="en-US" sz="1000" dirty="0"/>
          </a:p>
        </p:txBody>
      </p:sp>
      <p:sp>
        <p:nvSpPr>
          <p:cNvPr id="23" name="Application b"/>
          <p:cNvSpPr/>
          <p:nvPr/>
        </p:nvSpPr>
        <p:spPr>
          <a:xfrm>
            <a:off x="5120640" y="310896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31821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App (Auto Scaling)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56616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appserver-sg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93192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Données</a:t>
            </a:r>
            <a:endParaRPr lang="en-US" sz="1200" dirty="0"/>
          </a:p>
        </p:txBody>
      </p:sp>
      <p:sp>
        <p:nvSpPr>
          <p:cNvPr id="27" name="Données a"/>
          <p:cNvSpPr/>
          <p:nvPr/>
        </p:nvSpPr>
        <p:spPr>
          <a:xfrm>
            <a:off x="1783080" y="393192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74520" y="40050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RDS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874520" y="438912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database-sg</a:t>
            </a:r>
            <a:endParaRPr lang="en-US" sz="1000" dirty="0"/>
          </a:p>
        </p:txBody>
      </p:sp>
      <p:sp>
        <p:nvSpPr>
          <p:cNvPr id="30" name="Données b"/>
          <p:cNvSpPr/>
          <p:nvPr/>
        </p:nvSpPr>
        <p:spPr>
          <a:xfrm>
            <a:off x="5120640" y="393192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12080" y="40050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Sous-réseau réservé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438912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database-sg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783080" y="468172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us-east-1a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468172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us-east-1b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L2 · Justification de l’architecture</a:t>
            </a:r>
            <a:endParaRPr lang="en-US" sz="3000" dirty="0"/>
          </a:p>
        </p:txBody>
      </p:sp>
      <p:sp>
        <p:nvSpPr>
          <p:cNvPr id="3" name="axe Sécurité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</p:spPr>
      </p:sp>
      <p:sp>
        <p:nvSpPr>
          <p:cNvPr id="4" name="pastille"/>
          <p:cNvSpPr/>
          <p:nvPr/>
        </p:nvSpPr>
        <p:spPr>
          <a:xfrm>
            <a:off x="594360" y="116128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" name="Text 3"/>
          <p:cNvSpPr txBox="1"/>
          <p:nvPr/>
        </p:nvSpPr>
        <p:spPr>
          <a:xfrm>
            <a:off x="594360" y="11612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0515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Sécurité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05156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Trois tiers séparés, groupes de sécurité chaînés, base sans route vers Internet</a:t>
            </a:r>
            <a:endParaRPr lang="en-US" sz="1400" dirty="0"/>
          </a:p>
        </p:txBody>
      </p:sp>
      <p:sp>
        <p:nvSpPr>
          <p:cNvPr id="8" name="axe Fiabilité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</p:spPr>
      </p:sp>
      <p:sp>
        <p:nvSpPr>
          <p:cNvPr id="9" name="pastille"/>
          <p:cNvSpPr/>
          <p:nvPr/>
        </p:nvSpPr>
        <p:spPr>
          <a:xfrm>
            <a:off x="594360" y="189280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xt 8"/>
          <p:cNvSpPr txBox="1"/>
          <p:nvPr/>
        </p:nvSpPr>
        <p:spPr>
          <a:xfrm>
            <a:off x="594360" y="18928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7830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Fiabilité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78308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Deux zones de disponibilité, ALB et Auto Scaling devant chaque tier</a:t>
            </a:r>
            <a:endParaRPr lang="en-US" sz="1400" dirty="0"/>
          </a:p>
        </p:txBody>
      </p:sp>
      <p:sp>
        <p:nvSpPr>
          <p:cNvPr id="13" name="axe Performance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</p:spPr>
      </p:sp>
      <p:sp>
        <p:nvSpPr>
          <p:cNvPr id="14" name="pastille"/>
          <p:cNvSpPr/>
          <p:nvPr/>
        </p:nvSpPr>
        <p:spPr>
          <a:xfrm>
            <a:off x="594360" y="262432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3"/>
          <p:cNvSpPr txBox="1"/>
          <p:nvPr/>
        </p:nvSpPr>
        <p:spPr>
          <a:xfrm>
            <a:off x="594360" y="26243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5146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51460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Charge répartie par les ALB, capacité ajustée par l’Auto Scaling</a:t>
            </a:r>
            <a:endParaRPr lang="en-US" sz="1400" dirty="0"/>
          </a:p>
        </p:txBody>
      </p:sp>
      <p:sp>
        <p:nvSpPr>
          <p:cNvPr id="18" name="axe Coût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</p:spPr>
      </p:sp>
      <p:sp>
        <p:nvSpPr>
          <p:cNvPr id="19" name="pastille"/>
          <p:cNvSpPr/>
          <p:nvPr/>
        </p:nvSpPr>
        <p:spPr>
          <a:xfrm>
            <a:off x="594360" y="335584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0" name="Text 18"/>
          <p:cNvSpPr txBox="1"/>
          <p:nvPr/>
        </p:nvSpPr>
        <p:spPr>
          <a:xfrm>
            <a:off x="594360" y="3355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Coût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4612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NAT instance plutôt que NAT Gateway, instances t3.micro, destruction après chaque séance</a:t>
            </a:r>
            <a:endParaRPr lang="en-US" sz="1400" dirty="0"/>
          </a:p>
        </p:txBody>
      </p:sp>
      <p:sp>
        <p:nvSpPr>
          <p:cNvPr id="23" name="axe Excellence opérationnelle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</p:spPr>
      </p:sp>
      <p:sp>
        <p:nvSpPr>
          <p:cNvPr id="24" name="pastille"/>
          <p:cNvSpPr/>
          <p:nvPr/>
        </p:nvSpPr>
        <p:spPr>
          <a:xfrm>
            <a:off x="594360" y="408736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5" name="Text 23"/>
          <p:cNvSpPr txBox="1"/>
          <p:nvPr/>
        </p:nvSpPr>
        <p:spPr>
          <a:xfrm>
            <a:off x="594360" y="408736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9776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Excellence opérationnelle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397764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Terraform modulaire, scripts apply et destroy, journal des destructions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L2 · Estimation de coût</a:t>
            </a:r>
            <a:endParaRPr lang="en-US" sz="3000" dirty="0"/>
          </a:p>
        </p:txBody>
      </p:sp>
      <p:graphicFrame>
        <p:nvGraphicFramePr>
          <p:cNvPr id="6" name="tableau cout"/>
          <p:cNvGraphicFramePr>
            <a:graphicFrameLocks noGrp="1"/>
          </p:cNvGraphicFramePr>
          <p:nvPr/>
        </p:nvGraphicFramePr>
        <p:xfrm>
          <a:off x="457200" y="1097280"/>
          <a:ext cx="5029200" cy="2304288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82296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Ressource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Hypothèse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$/mois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ALB × 2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public + interne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33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EC2 t3.micro × 4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web + 2 app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30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NAT instance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t3.micro × 1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8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RDS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db.t3.micro, 20 Go, mono-AZ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15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≈ 86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Estimation indicative (tarifs us-east-1, à confirmer avec le calculateur AWS).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760720" y="1005840"/>
          <a:ext cx="2926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cout horaire"/>
          <p:cNvSpPr/>
          <p:nvPr/>
        </p:nvSpPr>
        <p:spPr>
          <a:xfrm>
            <a:off x="5760720" y="352044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760720" y="35661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≈ 0,12 $/h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897880" y="41148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soit environ 0,23 $ pour une séance de 2 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L3 · Réseau sur deux zones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011680" y="9601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us-east-1a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9601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us-east-1b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Public</a:t>
            </a:r>
            <a:endParaRPr lang="en-US" sz="1600" dirty="0"/>
          </a:p>
        </p:txBody>
      </p:sp>
      <p:sp>
        <p:nvSpPr>
          <p:cNvPr id="6" name="Public 10.0.0.0/20"/>
          <p:cNvSpPr/>
          <p:nvPr/>
        </p:nvSpPr>
        <p:spPr>
          <a:xfrm>
            <a:off x="2011680" y="132588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13990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10.0.0.0/20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7373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ALB · web · NAT</a:t>
            </a:r>
            <a:endParaRPr lang="en-US" sz="1300" dirty="0"/>
          </a:p>
        </p:txBody>
      </p:sp>
      <p:sp>
        <p:nvSpPr>
          <p:cNvPr id="9" name="Public 10.0.16.0/20"/>
          <p:cNvSpPr/>
          <p:nvPr/>
        </p:nvSpPr>
        <p:spPr>
          <a:xfrm>
            <a:off x="5394960" y="132588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13990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10.0.16.0/20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7373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ALB · web · NAT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945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13" name="Application 10.0.128.0/20"/>
          <p:cNvSpPr/>
          <p:nvPr/>
        </p:nvSpPr>
        <p:spPr>
          <a:xfrm>
            <a:off x="2011680" y="219456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11680" y="22677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10.0.128.0/20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606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Auto Scaling applicatif</a:t>
            </a:r>
            <a:endParaRPr lang="en-US" sz="1300" dirty="0"/>
          </a:p>
        </p:txBody>
      </p:sp>
      <p:sp>
        <p:nvSpPr>
          <p:cNvPr id="16" name="Application 10.0.144.0/20"/>
          <p:cNvSpPr/>
          <p:nvPr/>
        </p:nvSpPr>
        <p:spPr>
          <a:xfrm>
            <a:off x="5394960" y="219456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22677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10.0.144.0/20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606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Auto Scaling applicatif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06324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Données</a:t>
            </a:r>
            <a:endParaRPr lang="en-US" sz="1600" dirty="0"/>
          </a:p>
        </p:txBody>
      </p:sp>
      <p:sp>
        <p:nvSpPr>
          <p:cNvPr id="20" name="Données 10.0.160.0/20"/>
          <p:cNvSpPr/>
          <p:nvPr/>
        </p:nvSpPr>
        <p:spPr>
          <a:xfrm>
            <a:off x="2011680" y="306324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11680" y="313639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10.0.160.0/20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34747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RDS</a:t>
            </a:r>
            <a:endParaRPr lang="en-US" sz="1300" dirty="0"/>
          </a:p>
        </p:txBody>
      </p:sp>
      <p:sp>
        <p:nvSpPr>
          <p:cNvPr id="23" name="Données 10.0.176.0/20"/>
          <p:cNvSpPr/>
          <p:nvPr/>
        </p:nvSpPr>
        <p:spPr>
          <a:xfrm>
            <a:off x="5394960" y="306324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0" y="313639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10.0.176.0/20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4747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RDS</a:t>
            </a:r>
            <a:endParaRPr lang="en-US" sz="1300" dirty="0"/>
          </a:p>
        </p:txBody>
      </p:sp>
      <p:sp>
        <p:nvSpPr>
          <p:cNvPr id="26" name="route Public"/>
          <p:cNvSpPr/>
          <p:nvPr/>
        </p:nvSpPr>
        <p:spPr>
          <a:xfrm>
            <a:off x="457200" y="4069080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</p:spPr>
      </p:sp>
      <p:sp>
        <p:nvSpPr>
          <p:cNvPr id="27" name="Text 25"/>
          <p:cNvSpPr txBox="1"/>
          <p:nvPr/>
        </p:nvSpPr>
        <p:spPr>
          <a:xfrm>
            <a:off x="566928" y="411480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Public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route vers Internet par l’IGW</a:t>
            </a:r>
            <a:endParaRPr lang="en-US" sz="1300" dirty="0"/>
          </a:p>
        </p:txBody>
      </p:sp>
      <p:sp>
        <p:nvSpPr>
          <p:cNvPr id="28" name="route Application"/>
          <p:cNvSpPr/>
          <p:nvPr/>
        </p:nvSpPr>
        <p:spPr>
          <a:xfrm>
            <a:off x="3246120" y="4069080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</p:spPr>
      </p:sp>
      <p:sp>
        <p:nvSpPr>
          <p:cNvPr id="29" name="Text 27"/>
          <p:cNvSpPr txBox="1"/>
          <p:nvPr/>
        </p:nvSpPr>
        <p:spPr>
          <a:xfrm>
            <a:off x="3355848" y="411480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Application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route vers la NAT instance</a:t>
            </a:r>
            <a:endParaRPr lang="en-US" sz="1300" dirty="0"/>
          </a:p>
        </p:txBody>
      </p:sp>
      <p:sp>
        <p:nvSpPr>
          <p:cNvPr id="30" name="route Données"/>
          <p:cNvSpPr/>
          <p:nvPr/>
        </p:nvSpPr>
        <p:spPr>
          <a:xfrm>
            <a:off x="6035040" y="4069080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</p:spPr>
      </p:sp>
      <p:sp>
        <p:nvSpPr>
          <p:cNvPr id="31" name="Text 29"/>
          <p:cNvSpPr txBox="1"/>
          <p:nvPr/>
        </p:nvSpPr>
        <p:spPr>
          <a:xfrm>
            <a:off x="6144768" y="411480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Données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aucune route vers Internet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L3 · Groupes de sécurité</a:t>
            </a:r>
            <a:endParaRPr lang="en-US" sz="3000" dirty="0"/>
          </a:p>
        </p:txBody>
      </p:sp>
      <p:sp>
        <p:nvSpPr>
          <p:cNvPr id="3" name="chaine Internet"/>
          <p:cNvSpPr/>
          <p:nvPr/>
        </p:nvSpPr>
        <p:spPr>
          <a:xfrm>
            <a:off x="457200" y="10972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Internet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20240"/>
            <a:ext cx="147218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HTTP 80 vers l’ALB</a:t>
            </a:r>
            <a:endParaRPr lang="en-US" sz="1300" dirty="0"/>
          </a:p>
        </p:txBody>
      </p:sp>
      <p:sp>
        <p:nvSpPr>
          <p:cNvPr id="6" name="fleche"/>
          <p:cNvSpPr/>
          <p:nvPr/>
        </p:nvSpPr>
        <p:spPr>
          <a:xfrm>
            <a:off x="2194560" y="1892808"/>
            <a:ext cx="411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chaine ALB"/>
          <p:cNvSpPr/>
          <p:nvPr/>
        </p:nvSpPr>
        <p:spPr>
          <a:xfrm>
            <a:off x="2651760" y="10972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43200" y="118872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ALB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57276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alb-sg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1920240"/>
            <a:ext cx="147218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Entrée : 80 depuis Internet</a:t>
            </a:r>
            <a:endParaRPr lang="en-US" sz="1300" dirty="0"/>
          </a:p>
        </p:txBody>
      </p:sp>
      <p:sp>
        <p:nvSpPr>
          <p:cNvPr id="11" name="fleche"/>
          <p:cNvSpPr/>
          <p:nvPr/>
        </p:nvSpPr>
        <p:spPr>
          <a:xfrm>
            <a:off x="4389120" y="1892808"/>
            <a:ext cx="411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haine Application"/>
          <p:cNvSpPr/>
          <p:nvPr/>
        </p:nvSpPr>
        <p:spPr>
          <a:xfrm>
            <a:off x="4846320" y="10972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accent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118872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57276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app-sg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56048" y="1920240"/>
            <a:ext cx="147218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Entrée : 80 depuis alb-sg</a:t>
            </a:r>
            <a:endParaRPr lang="en-US" sz="1300" dirty="0"/>
          </a:p>
        </p:txBody>
      </p:sp>
      <p:sp>
        <p:nvSpPr>
          <p:cNvPr id="16" name="fleche"/>
          <p:cNvSpPr/>
          <p:nvPr/>
        </p:nvSpPr>
        <p:spPr>
          <a:xfrm>
            <a:off x="6583680" y="1892808"/>
            <a:ext cx="411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chaine Base de données"/>
          <p:cNvSpPr/>
          <p:nvPr/>
        </p:nvSpPr>
        <p:spPr>
          <a:xfrm>
            <a:off x="7040880" y="10972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accent5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32320" y="118872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Base de données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57276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db-sg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50608" y="1920240"/>
            <a:ext cx="147218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Entrée : 3306 depuis app-sg</a:t>
            </a:r>
            <a:endParaRPr lang="en-US" sz="1300" dirty="0"/>
          </a:p>
        </p:txBody>
      </p:sp>
      <p:sp>
        <p:nvSpPr>
          <p:cNvPr id="21" name="point Références entre groupes"/>
          <p:cNvSpPr/>
          <p:nvPr/>
        </p:nvSpPr>
        <p:spPr>
          <a:xfrm>
            <a:off x="45720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</p:spPr>
      </p:sp>
      <p:sp>
        <p:nvSpPr>
          <p:cNvPr id="22" name="Text 20"/>
          <p:cNvSpPr txBox="1"/>
          <p:nvPr/>
        </p:nvSpPr>
        <p:spPr>
          <a:xfrm>
            <a:off x="594360" y="31272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Références entre groupes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5204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Les règles citent des groupes (alb, app, db), jamais des adresses IP en dur.</a:t>
            </a:r>
            <a:endParaRPr lang="en-US" sz="1400" dirty="0"/>
          </a:p>
        </p:txBody>
      </p:sp>
      <p:sp>
        <p:nvSpPr>
          <p:cNvPr id="24" name="point Base fermée"/>
          <p:cNvSpPr/>
          <p:nvPr/>
        </p:nvSpPr>
        <p:spPr>
          <a:xfrm>
            <a:off x="324612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</p:spPr>
      </p:sp>
      <p:sp>
        <p:nvSpPr>
          <p:cNvPr id="25" name="Text 23"/>
          <p:cNvSpPr txBox="1"/>
          <p:nvPr/>
        </p:nvSpPr>
        <p:spPr>
          <a:xfrm>
            <a:off x="3383280" y="31272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Base fermée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5204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db-sg n’a aucune règle de sortie et les sous-réseaux données n’ont pas de route Internet.</a:t>
            </a:r>
            <a:endParaRPr lang="en-US" sz="1400" dirty="0"/>
          </a:p>
        </p:txBody>
      </p:sp>
      <p:sp>
        <p:nvSpPr>
          <p:cNvPr id="27" name="point NAT restreinte"/>
          <p:cNvSpPr/>
          <p:nvPr/>
        </p:nvSpPr>
        <p:spPr>
          <a:xfrm>
            <a:off x="603504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</p:spPr>
      </p:sp>
      <p:sp>
        <p:nvSpPr>
          <p:cNvPr id="28" name="Text 26"/>
          <p:cNvSpPr txBox="1"/>
          <p:nvPr/>
        </p:nvSpPr>
        <p:spPr>
          <a:xfrm>
            <a:off x="6172200" y="31272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NAT restreinte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5204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nat-sg accepte uniquement le trafic venant des sous-réseaux applicatifs.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L3 · NAT instance et accès sortant</a:t>
            </a:r>
            <a:endParaRPr lang="en-US" sz="3000" dirty="0"/>
          </a:p>
        </p:txBody>
      </p:sp>
      <p:sp>
        <p:nvSpPr>
          <p:cNvPr id="3" name="flux Instance applicative"/>
          <p:cNvSpPr/>
          <p:nvPr/>
        </p:nvSpPr>
        <p:spPr>
          <a:xfrm>
            <a:off x="457200" y="100584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024128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Instance applicative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sous-réseau privé</a:t>
            </a:r>
            <a:endParaRPr lang="en-US" sz="1400" dirty="0"/>
          </a:p>
        </p:txBody>
      </p:sp>
      <p:sp>
        <p:nvSpPr>
          <p:cNvPr id="5" name="fleche"/>
          <p:cNvSpPr/>
          <p:nvPr/>
        </p:nvSpPr>
        <p:spPr>
          <a:xfrm>
            <a:off x="2423160" y="1682496"/>
            <a:ext cx="0" cy="219456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flux Table de routage rt-app"/>
          <p:cNvSpPr/>
          <p:nvPr/>
        </p:nvSpPr>
        <p:spPr>
          <a:xfrm>
            <a:off x="457200" y="192024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38528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Table de routage rt-app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0.0.0.0/0 vers la NAT</a:t>
            </a:r>
            <a:endParaRPr lang="en-US" sz="1400" dirty="0"/>
          </a:p>
        </p:txBody>
      </p:sp>
      <p:sp>
        <p:nvSpPr>
          <p:cNvPr id="8" name="fleche"/>
          <p:cNvSpPr/>
          <p:nvPr/>
        </p:nvSpPr>
        <p:spPr>
          <a:xfrm>
            <a:off x="2423160" y="2596896"/>
            <a:ext cx="0" cy="219456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flux NAT instance"/>
          <p:cNvSpPr/>
          <p:nvPr/>
        </p:nvSpPr>
        <p:spPr>
          <a:xfrm>
            <a:off x="457200" y="283464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852928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NAT instance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MASQUERADE · source/dest check off</a:t>
            </a:r>
            <a:endParaRPr lang="en-US" sz="1400" dirty="0"/>
          </a:p>
        </p:txBody>
      </p:sp>
      <p:sp>
        <p:nvSpPr>
          <p:cNvPr id="11" name="fleche"/>
          <p:cNvSpPr/>
          <p:nvPr/>
        </p:nvSpPr>
        <p:spPr>
          <a:xfrm>
            <a:off x="2423160" y="3511296"/>
            <a:ext cx="0" cy="219456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flux Internet Gateway"/>
          <p:cNvSpPr/>
          <p:nvPr/>
        </p:nvSpPr>
        <p:spPr>
          <a:xfrm>
            <a:off x="457200" y="374904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3767328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Internet Gateway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sortie vers Internet</a:t>
            </a:r>
            <a:endParaRPr lang="en-US" sz="1400" dirty="0"/>
          </a:p>
        </p:txBody>
      </p:sp>
      <p:sp>
        <p:nvSpPr>
          <p:cNvPr id="14" name="pourquoi"/>
          <p:cNvSpPr/>
          <p:nvPr/>
        </p:nvSpPr>
        <p:spPr>
          <a:xfrm>
            <a:off x="4754880" y="1005840"/>
            <a:ext cx="39319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</p:spPr>
      </p:sp>
      <p:sp>
        <p:nvSpPr>
          <p:cNvPr id="15" name="Text 13"/>
          <p:cNvSpPr txBox="1"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Pourquoi une NAT instance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4630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≈ 8 $/mois contre ≈ 33 $ pour une NAT Gateway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Suffisant pour installer et mettre à jour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Contrôle total avec iptables</a:t>
            </a:r>
            <a:endParaRPr lang="en-US" sz="1400" dirty="0"/>
          </a:p>
        </p:txBody>
      </p:sp>
      <p:sp>
        <p:nvSpPr>
          <p:cNvPr id="17" name="limites"/>
          <p:cNvSpPr/>
          <p:nvPr/>
        </p:nvSpPr>
        <p:spPr>
          <a:xfrm>
            <a:off x="4754880" y="2971800"/>
            <a:ext cx="39319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Limites assumées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29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Point de défaillance unique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Débit limité par le type d’instance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Mises à jour à notre charge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Démo en direct</a:t>
            </a:r>
            <a:endParaRPr lang="en-US" sz="3000" dirty="0"/>
          </a:p>
        </p:txBody>
      </p:sp>
      <p:sp>
        <p:nvSpPr>
          <p:cNvPr id="3" name="pastille"/>
          <p:cNvSpPr/>
          <p:nvPr/>
        </p:nvSpPr>
        <p:spPr>
          <a:xfrm>
            <a:off x="457200" y="116128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4" name="Text 2"/>
          <p:cNvSpPr txBox="1"/>
          <p:nvPr/>
        </p:nvSpPr>
        <p:spPr>
          <a:xfrm>
            <a:off x="457200" y="11612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ommande 1"/>
          <p:cNvSpPr/>
          <p:nvPr/>
        </p:nvSpPr>
        <p:spPr>
          <a:xfrm>
            <a:off x="1097280" y="109728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</p:spPr>
      </p:sp>
      <p:sp>
        <p:nvSpPr>
          <p:cNvPr id="6" name="Text 4"/>
          <p:cNvSpPr txBox="1"/>
          <p:nvPr/>
        </p:nvSpPr>
        <p:spPr>
          <a:xfrm>
            <a:off x="1188720" y="10972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scripts/apply.sh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0515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Lancé au début de l’oral : l’infrastructure est prête pour la démo</a:t>
            </a:r>
            <a:endParaRPr lang="en-US" sz="1400" dirty="0"/>
          </a:p>
        </p:txBody>
      </p:sp>
      <p:sp>
        <p:nvSpPr>
          <p:cNvPr id="8" name="pastille"/>
          <p:cNvSpPr/>
          <p:nvPr/>
        </p:nvSpPr>
        <p:spPr>
          <a:xfrm>
            <a:off x="457200" y="189280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7"/>
          <p:cNvSpPr txBox="1"/>
          <p:nvPr/>
        </p:nvSpPr>
        <p:spPr>
          <a:xfrm>
            <a:off x="457200" y="18928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commande 2"/>
          <p:cNvSpPr/>
          <p:nvPr/>
        </p:nvSpPr>
        <p:spPr>
          <a:xfrm>
            <a:off x="1097280" y="182880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</p:spPr>
      </p:sp>
      <p:sp>
        <p:nvSpPr>
          <p:cNvPr id="11" name="Text 9"/>
          <p:cNvSpPr txBox="1"/>
          <p:nvPr/>
        </p:nvSpPr>
        <p:spPr>
          <a:xfrm>
            <a:off x="1188720" y="18288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terraform output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IP publique de la NAT, ID et IP privées des instances</a:t>
            </a:r>
            <a:endParaRPr lang="en-US" sz="1400" dirty="0"/>
          </a:p>
        </p:txBody>
      </p:sp>
      <p:sp>
        <p:nvSpPr>
          <p:cNvPr id="13" name="pastille"/>
          <p:cNvSpPr/>
          <p:nvPr/>
        </p:nvSpPr>
        <p:spPr>
          <a:xfrm>
            <a:off x="457200" y="262432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4" name="Text 12"/>
          <p:cNvSpPr txBox="1"/>
          <p:nvPr/>
        </p:nvSpPr>
        <p:spPr>
          <a:xfrm>
            <a:off x="457200" y="26243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ommande 3"/>
          <p:cNvSpPr/>
          <p:nvPr/>
        </p:nvSpPr>
        <p:spPr>
          <a:xfrm>
            <a:off x="1097280" y="256032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</p:spPr>
      </p:sp>
      <p:sp>
        <p:nvSpPr>
          <p:cNvPr id="16" name="Text 14"/>
          <p:cNvSpPr txBox="1"/>
          <p:nvPr/>
        </p:nvSpPr>
        <p:spPr>
          <a:xfrm>
            <a:off x="1188720" y="256032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de l’instance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146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ID, zone et IP sortante : elle doit être celle de la NAT</a:t>
            </a:r>
            <a:endParaRPr lang="en-US" sz="1400" dirty="0"/>
          </a:p>
        </p:txBody>
      </p:sp>
      <p:sp>
        <p:nvSpPr>
          <p:cNvPr id="18" name="pastille"/>
          <p:cNvSpPr/>
          <p:nvPr/>
        </p:nvSpPr>
        <p:spPr>
          <a:xfrm>
            <a:off x="457200" y="335584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9" name="Text 17"/>
          <p:cNvSpPr txBox="1"/>
          <p:nvPr/>
        </p:nvSpPr>
        <p:spPr>
          <a:xfrm>
            <a:off x="457200" y="3355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commande 4"/>
          <p:cNvSpPr/>
          <p:nvPr/>
        </p:nvSpPr>
        <p:spPr>
          <a:xfrm>
            <a:off x="1097280" y="329184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</p:spPr>
      </p:sp>
      <p:sp>
        <p:nvSpPr>
          <p:cNvPr id="21" name="Text 19"/>
          <p:cNvSpPr txBox="1"/>
          <p:nvPr/>
        </p:nvSpPr>
        <p:spPr>
          <a:xfrm>
            <a:off x="1188720" y="32918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scripts/destroy.sh &lt;préfixe&gt;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24612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Destruction en direct, puis entrée dans le journal</a:t>
            </a:r>
            <a:endParaRPr lang="en-US" sz="1400" dirty="0"/>
          </a:p>
        </p:txBody>
      </p:sp>
      <p:sp>
        <p:nvSpPr>
          <p:cNvPr id="23" name="pastille"/>
          <p:cNvSpPr/>
          <p:nvPr/>
        </p:nvSpPr>
        <p:spPr>
          <a:xfrm>
            <a:off x="457200" y="408736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4" name="Text 22"/>
          <p:cNvSpPr txBox="1"/>
          <p:nvPr/>
        </p:nvSpPr>
        <p:spPr>
          <a:xfrm>
            <a:off x="457200" y="408736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commande 5"/>
          <p:cNvSpPr/>
          <p:nvPr/>
        </p:nvSpPr>
        <p:spPr>
          <a:xfrm>
            <a:off x="1097280" y="402336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</p:spPr>
      </p:sp>
      <p:sp>
        <p:nvSpPr>
          <p:cNvPr id="26" name="Text 24"/>
          <p:cNvSpPr txBox="1"/>
          <p:nvPr/>
        </p:nvSpPr>
        <p:spPr>
          <a:xfrm>
            <a:off x="1188720" y="402336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aws ec2 describe-instances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97764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Aucune instance restante pour le préfixe du groupe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Où nous en sommes et la suite</a:t>
            </a:r>
            <a:endParaRPr lang="en-US" sz="3000" dirty="0"/>
          </a:p>
        </p:txBody>
      </p:sp>
      <p:graphicFrame>
        <p:nvGraphicFramePr>
          <p:cNvPr id="11" name="tableau feuille de route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2468880"/>
                <a:gridCol w="256032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Livrable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Semaines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Majdeddine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Oussema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L1 à L3 · Réseau, NAT, EC2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fait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Réseau, sécurité, schéma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NAT, EC2, scripts, coût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L4 · Haute disponibilité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7-8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 Scaling, Launch Template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ALB, contrôles de santé, test de panne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L5 · Données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9-10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S3 et usage réel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RDS, sauvegardes, restauration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L6 · Supervision et coût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11-12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CloudWatch, dashboard, alarmes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Secrets, durcissement, rapport de coût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L7 · Exploitation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13-14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Test de charge, rapport d’incident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Boto3 (bonus), documentation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Détruire proprement</a:t>
            </a:r>
            <a:endParaRPr lang="en-US" sz="3000" dirty="0"/>
          </a:p>
        </p:txBody>
      </p:sp>
      <p:sp>
        <p:nvSpPr>
          <p:cNvPr id="3" name="pastille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0972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terraform destroy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087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Toutes les ressources du projet sont supprimées</a:t>
            </a:r>
            <a:endParaRPr lang="en-US" sz="1400" dirty="0"/>
          </a:p>
        </p:txBody>
      </p:sp>
      <p:sp>
        <p:nvSpPr>
          <p:cNvPr id="7" name="fleche"/>
          <p:cNvSpPr/>
          <p:nvPr/>
        </p:nvSpPr>
        <p:spPr>
          <a:xfrm>
            <a:off x="685800" y="1783080"/>
            <a:ext cx="0" cy="457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pastille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7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2860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Journal des destructions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974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Date, action et auteur ajoutés dans docs/journal-destructions.md</a:t>
            </a:r>
            <a:endParaRPr lang="en-US" sz="1400" dirty="0"/>
          </a:p>
        </p:txBody>
      </p:sp>
      <p:sp>
        <p:nvSpPr>
          <p:cNvPr id="12" name="fleche"/>
          <p:cNvSpPr/>
          <p:nvPr/>
        </p:nvSpPr>
        <p:spPr>
          <a:xfrm>
            <a:off x="685800" y="2971800"/>
            <a:ext cx="0" cy="457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pastille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4" name="Text 12"/>
          <p:cNvSpPr txBox="1"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747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Vérification avec AWS CLI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8862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Plus aucune instance pour le préfixe du groupe</a:t>
            </a:r>
            <a:endParaRPr lang="en-US" sz="1400" dirty="0"/>
          </a:p>
        </p:txBody>
      </p:sp>
      <p:sp>
        <p:nvSpPr>
          <p:cNvPr id="17" name="regles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Nos règles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169164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Rien créé à la main dans la console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Aucun identifiant dans le dépôt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Destruction à la fin de chaque séance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Crédit restant relevé à chaque séance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Des commits des deux membres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conclusion Isolée"/>
          <p:cNvSpPr/>
          <p:nvPr/>
        </p:nvSpPr>
        <p:spPr>
          <a:xfrm>
            <a:off x="45720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accent6">
              <a:alpha val="30000"/>
            </a:schemeClr>
          </a:solidFill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Isolée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3 tiers séparés, groupes de sécurité chaînés, base sans accès Internet</a:t>
            </a:r>
            <a:endParaRPr lang="en-US" sz="1600" dirty="0"/>
          </a:p>
        </p:txBody>
      </p:sp>
      <p:sp>
        <p:nvSpPr>
          <p:cNvPr id="6" name="conclusion Disponible"/>
          <p:cNvSpPr/>
          <p:nvPr/>
        </p:nvSpPr>
        <p:spPr>
          <a:xfrm>
            <a:off x="324612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accent6">
              <a:alpha val="30000"/>
            </a:schemeClr>
          </a:solidFill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Disponible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2 zones, ALB et Auto Scaling devant chaque tier</a:t>
            </a:r>
            <a:endParaRPr lang="en-US" sz="1600" dirty="0"/>
          </a:p>
        </p:txBody>
      </p:sp>
      <p:sp>
        <p:nvSpPr>
          <p:cNvPr id="9" name="conclusion Reproductible"/>
          <p:cNvSpPr/>
          <p:nvPr/>
        </p:nvSpPr>
        <p:spPr>
          <a:xfrm>
            <a:off x="603504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accent6">
              <a:alpha val="30000"/>
            </a:schemeClr>
          </a:solidFill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Reproductible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Terraform modulaire, apply et destroy par script, sans console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Merci · Des questions 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3 tiers">
  <a:themeElements>
    <a:clrScheme name="AWS 3 tiers">
      <a:dk1>
        <a:srgbClr val="161E2D"/>
      </a:dk1>
      <a:lt1>
        <a:srgbClr val="FFFFFF"/>
      </a:lt1>
      <a:dk2>
        <a:srgbClr val="232F3E"/>
      </a:dk2>
      <a:lt2>
        <a:srgbClr val="F2F4F7"/>
      </a:lt2>
      <a:accent1>
        <a:srgbClr val="FF9900"/>
      </a:accent1>
      <a:accent2>
        <a:srgbClr val="1B7F9E"/>
      </a:accent2>
      <a:accent3>
        <a:srgbClr val="3F8F5B"/>
      </a:accent3>
      <a:accent4>
        <a:srgbClr val="C0392B"/>
      </a:accent4>
      <a:accent5>
        <a:srgbClr val="7B5EA7"/>
      </a:accent5>
      <a:accent6>
        <a:srgbClr val="5B6B7F"/>
      </a:accent6>
      <a:hlink>
        <a:srgbClr val="1B7F9E"/>
      </a:hlink>
      <a:folHlink>
        <a:srgbClr val="7B5EA7"/>
      </a:folHlink>
    </a:clrScheme>
    <a:fontScheme name="AWS 3 ti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WS 3 tiers">
  <a:themeElements>
    <a:clrScheme name="AWS 3 tiers">
      <a:dk1>
        <a:srgbClr val="161E2D"/>
      </a:dk1>
      <a:lt1>
        <a:srgbClr val="FFFFFF"/>
      </a:lt1>
      <a:dk2>
        <a:srgbClr val="232F3E"/>
      </a:dk2>
      <a:lt2>
        <a:srgbClr val="F2F4F7"/>
      </a:lt2>
      <a:accent1>
        <a:srgbClr val="FF9900"/>
      </a:accent1>
      <a:accent2>
        <a:srgbClr val="1B7F9E"/>
      </a:accent2>
      <a:accent3>
        <a:srgbClr val="3F8F5B"/>
      </a:accent3>
      <a:accent4>
        <a:srgbClr val="C0392B"/>
      </a:accent4>
      <a:accent5>
        <a:srgbClr val="7B5EA7"/>
      </a:accent5>
      <a:accent6>
        <a:srgbClr val="5B6B7F"/>
      </a:accent6>
      <a:hlink>
        <a:srgbClr val="1B7F9E"/>
      </a:hlink>
      <a:folHlink>
        <a:srgbClr val="7B5EA7"/>
      </a:folHlink>
    </a:clrScheme>
    <a:fontScheme name="AWS 3 ti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4347</Words>
  <Application>WPS Presentation</Application>
  <PresentationFormat>On-screen Show (16:9)</PresentationFormat>
  <Paragraphs>402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Arial</vt:lpstr>
      <vt:lpstr>Courier New</vt:lpstr>
      <vt:lpstr>Courier New</vt:lpstr>
      <vt:lpstr>Courier New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AWS 3 tiers</vt:lpstr>
      <vt:lpstr>Infrastructure AWS 3 tiers à haute disponibilité</vt:lpstr>
      <vt:lpstr>L1 · Sujet et objectifs</vt:lpstr>
      <vt:lpstr>L2 · Architecture cible</vt:lpstr>
      <vt:lpstr>L2 · Justification de l’architecture</vt:lpstr>
      <vt:lpstr>L2 · Estimation de coût</vt:lpstr>
      <vt:lpstr>L3 · Réseau sur deux zones</vt:lpstr>
      <vt:lpstr>L3 · Groupes de sécurité</vt:lpstr>
      <vt:lpstr>L3 · NAT instance et accès sortant</vt:lpstr>
      <vt:lpstr>Démo en direct</vt:lpstr>
      <vt:lpstr>Où nous en sommes et la suite</vt:lpstr>
      <vt:lpstr>Détruire proprement</vt:lpstr>
      <vt:lpstr>Conclusion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AWS 3 tiers</dc:title>
  <dc:creator>Majdeddine MOHAMED, Oussema RHIMI</dc:creator>
  <dc:subject>PptxGenJS Presentation</dc:subject>
  <cp:lastModifiedBy>RHIM OUSSEMA</cp:lastModifiedBy>
  <cp:revision>2</cp:revision>
  <dcterms:created xsi:type="dcterms:W3CDTF">2026-10-21T22:43:00Z</dcterms:created>
  <dcterms:modified xsi:type="dcterms:W3CDTF">2026-10-29T11:02:32Z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3239FA8EB17D4B7DA8048D5D3AB12935_12</vt:lpwstr>
  </property>
  <property fmtid="{D5CDD505-2E9C-101B-9397-08002B2CF9AE}" pid="3" name="KSOProductBuildVer">
    <vt:lpwstr>1036-12.1.0.29162</vt:lpwstr>
  </property>
</Properties>
</file>